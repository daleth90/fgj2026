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3A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03920" y="4114800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2752" y="4069080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4279392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31352" y="5120640"/>
            <a:ext cx="54864" cy="228600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15400" y="347472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14232" y="3429000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0" y="3639312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2832" y="5120640"/>
            <a:ext cx="54864" cy="429768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72600" y="2743199"/>
            <a:ext cx="109728" cy="2377440"/>
          </a:xfrm>
          <a:prstGeom prst="roundRect">
            <a:avLst>
              <a:gd name="adj" fmla="val 50000"/>
            </a:avLst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71432" y="2697479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0" y="2907791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00032" y="5120640"/>
            <a:ext cx="54864" cy="630936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1920239"/>
            <a:ext cx="109728" cy="3200400"/>
          </a:xfrm>
          <a:prstGeom prst="roundRect">
            <a:avLst>
              <a:gd name="adj" fmla="val 50000"/>
            </a:avLst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74352" y="1874519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2084831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02952" y="5120640"/>
            <a:ext cx="54864" cy="832104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24160" y="1005839"/>
            <a:ext cx="109728" cy="4114800"/>
          </a:xfrm>
          <a:prstGeom prst="roundRect">
            <a:avLst>
              <a:gd name="adj" fmla="val 50000"/>
            </a:avLst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22992" y="960119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69880" y="1170431"/>
            <a:ext cx="274320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51592" y="5120640"/>
            <a:ext cx="54864" cy="1033271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DB255"/>
                </a:solidFill>
                <a:latin typeface="Microsoft JhengHei"/>
                <a:ea typeface="Microsoft JhengHei"/>
                <a:cs typeface="Microsoft JhengHei"/>
              </a:rPr>
              <a:t>GAME JAM 企劃書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874519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草皮巴拉go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20040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簡化版的卡皮巴拉 Go：</a:t>
            </a:r>
          </a:p>
          <a:p>
            <a:pPr algn="l">
              <a:spcBef>
                <a:spcPts val="400"/>
              </a:spcBef>
            </a:pPr>
            <a:r>
              <a:rPr sz="22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一路奔跑、三選一、沒有戰鬥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2026-10-03 ｜ PC ｜ 給團隊成員與協作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先分清楚：哪些定了、哪些還沒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提案不是定案；未拍板的項目，agent 不得代為決定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4434840"/>
          </a:xfrm>
          <a:prstGeom prst="roundRect">
            <a:avLst>
              <a:gd name="adj" fmla="val 4000"/>
            </a:avLst>
          </a:prstGeom>
          <a:solidFill>
            <a:srgbClr val="DDE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868680"/>
          </a:xfrm>
          <a:prstGeom prst="roundRect">
            <a:avLst>
              <a:gd name="adj" fmla="val 15789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已拍板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團隊討論結果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44368"/>
            <a:ext cx="128016" cy="128016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1" y="28529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簡化版卡皮巴拉 Go，不做戰鬥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93008"/>
            <a:ext cx="128016" cy="128016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1" y="340156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三項數值：速度、溼度、韌度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41648"/>
            <a:ext cx="128016" cy="128016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1" y="395020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隨機事件 10 秒、檢驗點 60 秒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90288"/>
            <a:ext cx="128016" cy="128016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1" y="449884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每事件 3 個選項，文案不寫數字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38927"/>
            <a:ext cx="128016" cy="128016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1" y="504748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不符條件的選項顯示但不可點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687568"/>
            <a:ext cx="128016" cy="128016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1" y="55961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失敗即死亡，沒有生命值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1783080"/>
            <a:ext cx="3429000" cy="4434840"/>
          </a:xfrm>
          <a:prstGeom prst="roundRect">
            <a:avLst>
              <a:gd name="adj" fmla="val 4000"/>
            </a:avLst>
          </a:prstGeom>
          <a:solidFill>
            <a:srgbClr val="FB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79976" y="1783080"/>
            <a:ext cx="3429000" cy="868680"/>
          </a:xfrm>
          <a:prstGeom prst="roundRect">
            <a:avLst>
              <a:gd name="adj" fmla="val 15789"/>
            </a:avLst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1847088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未拍板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22585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需要時回頭問</a:t>
            </a:r>
          </a:p>
        </p:txBody>
      </p:sp>
      <p:sp>
        <p:nvSpPr>
          <p:cNvPr id="24" name="Oval 23"/>
          <p:cNvSpPr/>
          <p:nvPr/>
        </p:nvSpPr>
        <p:spPr>
          <a:xfrm>
            <a:off x="4654296" y="2944368"/>
            <a:ext cx="128016" cy="128016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28529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事件出現時計時是否暫停</a:t>
            </a:r>
          </a:p>
        </p:txBody>
      </p:sp>
      <p:sp>
        <p:nvSpPr>
          <p:cNvPr id="26" name="Oval 25"/>
          <p:cNvSpPr/>
          <p:nvPr/>
        </p:nvSpPr>
        <p:spPr>
          <a:xfrm>
            <a:off x="4654296" y="3493008"/>
            <a:ext cx="128016" cy="128016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340156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溼度怎麼判定</a:t>
            </a:r>
          </a:p>
        </p:txBody>
      </p:sp>
      <p:sp>
        <p:nvSpPr>
          <p:cNvPr id="28" name="Oval 27"/>
          <p:cNvSpPr/>
          <p:nvPr/>
        </p:nvSpPr>
        <p:spPr>
          <a:xfrm>
            <a:off x="4654296" y="4041648"/>
            <a:ext cx="128016" cy="128016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395020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自然枯竭是否進 MVP</a:t>
            </a:r>
          </a:p>
        </p:txBody>
      </p:sp>
      <p:sp>
        <p:nvSpPr>
          <p:cNvPr id="30" name="Oval 29"/>
          <p:cNvSpPr/>
          <p:nvPr/>
        </p:nvSpPr>
        <p:spPr>
          <a:xfrm>
            <a:off x="4654296" y="4590288"/>
            <a:ext cx="128016" cy="128016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0328" y="449884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數值是否顯示給玩家</a:t>
            </a:r>
          </a:p>
        </p:txBody>
      </p:sp>
      <p:sp>
        <p:nvSpPr>
          <p:cNvPr id="32" name="Oval 31"/>
          <p:cNvSpPr/>
          <p:nvPr/>
        </p:nvSpPr>
        <p:spPr>
          <a:xfrm>
            <a:off x="4654296" y="5138927"/>
            <a:ext cx="128016" cy="128016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0328" y="504748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一局多長、有沒有終點</a:t>
            </a:r>
          </a:p>
        </p:txBody>
      </p:sp>
      <p:sp>
        <p:nvSpPr>
          <p:cNvPr id="34" name="Oval 33"/>
          <p:cNvSpPr/>
          <p:nvPr/>
        </p:nvSpPr>
        <p:spPr>
          <a:xfrm>
            <a:off x="4654296" y="5687568"/>
            <a:ext cx="128016" cy="128016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55961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主題、時間、引擎、分工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1783080"/>
            <a:ext cx="3429000" cy="443484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19871" y="1783080"/>
            <a:ext cx="3429000" cy="868680"/>
          </a:xfrm>
          <a:prstGeom prst="roundRect">
            <a:avLst>
              <a:gd name="adj" fmla="val 15789"/>
            </a:avLst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1847088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提案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22585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可以改</a:t>
            </a:r>
          </a:p>
        </p:txBody>
      </p:sp>
      <p:sp>
        <p:nvSpPr>
          <p:cNvPr id="40" name="Oval 39"/>
          <p:cNvSpPr/>
          <p:nvPr/>
        </p:nvSpPr>
        <p:spPr>
          <a:xfrm>
            <a:off x="8394192" y="2944368"/>
            <a:ext cx="128016" cy="12801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0224" y="28529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數值範圍 0–5、起始 2</a:t>
            </a:r>
          </a:p>
        </p:txBody>
      </p:sp>
      <p:sp>
        <p:nvSpPr>
          <p:cNvPr id="42" name="Oval 41"/>
          <p:cNvSpPr/>
          <p:nvPr/>
        </p:nvSpPr>
        <p:spPr>
          <a:xfrm>
            <a:off x="8394192" y="3493008"/>
            <a:ext cx="128016" cy="12801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0224" y="340156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高中低對應的門檻數字</a:t>
            </a:r>
          </a:p>
        </p:txBody>
      </p:sp>
      <p:sp>
        <p:nvSpPr>
          <p:cNvPr id="44" name="Oval 43"/>
          <p:cNvSpPr/>
          <p:nvPr/>
        </p:nvSpPr>
        <p:spPr>
          <a:xfrm>
            <a:off x="8394192" y="4041648"/>
            <a:ext cx="128016" cy="12801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4" y="395020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事件數量 20＋3</a:t>
            </a:r>
          </a:p>
        </p:txBody>
      </p:sp>
      <p:sp>
        <p:nvSpPr>
          <p:cNvPr id="46" name="Oval 45"/>
          <p:cNvSpPr/>
          <p:nvPr/>
        </p:nvSpPr>
        <p:spPr>
          <a:xfrm>
            <a:off x="8394192" y="4590288"/>
            <a:ext cx="128016" cy="12801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0224" y="449884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事件資料格式</a:t>
            </a:r>
          </a:p>
        </p:txBody>
      </p:sp>
      <p:sp>
        <p:nvSpPr>
          <p:cNvPr id="48" name="Oval 47"/>
          <p:cNvSpPr/>
          <p:nvPr/>
        </p:nvSpPr>
        <p:spPr>
          <a:xfrm>
            <a:off x="8394192" y="5138927"/>
            <a:ext cx="128016" cy="12801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0224" y="504748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實作順序與砍法</a:t>
            </a:r>
          </a:p>
        </p:txBody>
      </p:sp>
      <p:sp>
        <p:nvSpPr>
          <p:cNvPr id="50" name="Oval 49"/>
          <p:cNvSpPr/>
          <p:nvPr/>
        </p:nvSpPr>
        <p:spPr>
          <a:xfrm>
            <a:off x="8394192" y="5687568"/>
            <a:ext cx="128016" cy="12801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0224" y="55961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驗收條件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一局的結構：三分鐘、三個檢驗點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每 10 秒一個隨機事件，每 60 秒一個檢驗點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2331720"/>
          </a:xfrm>
          <a:prstGeom prst="roundRect">
            <a:avLst>
              <a:gd name="adj" fmla="val 5882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028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9748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2286000"/>
            <a:ext cx="768096" cy="768096"/>
          </a:xfrm>
          <a:prstGeom prst="ellipse">
            <a:avLst/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隨機事件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00400"/>
            <a:ext cx="1865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60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9300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乾裂風帶</a:t>
            </a:r>
          </a:p>
        </p:txBody>
      </p:sp>
      <p:sp>
        <p:nvSpPr>
          <p:cNvPr id="15" name="Oval 14"/>
          <p:cNvSpPr/>
          <p:nvPr/>
        </p:nvSpPr>
        <p:spPr>
          <a:xfrm>
            <a:off x="434340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60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5780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1500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72200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2286000"/>
            <a:ext cx="768096" cy="768096"/>
          </a:xfrm>
          <a:prstGeom prst="ellipse">
            <a:avLst/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隨機事件 ×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1865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120 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49300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積水窪地</a:t>
            </a:r>
          </a:p>
        </p:txBody>
      </p:sp>
      <p:sp>
        <p:nvSpPr>
          <p:cNvPr id="25" name="Oval 24"/>
          <p:cNvSpPr/>
          <p:nvPr/>
        </p:nvSpPr>
        <p:spPr>
          <a:xfrm>
            <a:off x="7818119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19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32519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19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46919" y="2514600"/>
            <a:ext cx="310896" cy="310896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49839" y="2286000"/>
            <a:ext cx="768096" cy="768096"/>
          </a:xfrm>
          <a:prstGeom prst="ellipse">
            <a:avLst/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9" y="228600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19" y="3200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隨機事件 ×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9" y="3200400"/>
            <a:ext cx="1865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180 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199" y="349300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夜間寒潮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時間軸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389120"/>
            <a:ext cx="2542032" cy="1508760"/>
          </a:xfrm>
          <a:prstGeom prst="roundRect">
            <a:avLst>
              <a:gd name="adj" fmla="val 909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498848"/>
            <a:ext cx="208483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分鐘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2852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一局長度（不含閱讀暫停）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19856" y="4389120"/>
            <a:ext cx="2542032" cy="1508760"/>
          </a:xfrm>
          <a:prstGeom prst="roundRect">
            <a:avLst>
              <a:gd name="adj" fmla="val 909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498848"/>
            <a:ext cx="208483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 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48456" y="52852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一局的隨機事件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4389120"/>
            <a:ext cx="2542032" cy="1508760"/>
          </a:xfrm>
          <a:prstGeom prst="roundRect">
            <a:avLst>
              <a:gd name="adj" fmla="val 909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4498848"/>
            <a:ext cx="208483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52852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檢驗點：未達門檻即死亡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79408" y="4389120"/>
            <a:ext cx="2542032" cy="1508760"/>
          </a:xfrm>
          <a:prstGeom prst="roundRect">
            <a:avLst>
              <a:gd name="adj" fmla="val 909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8008" y="4498848"/>
            <a:ext cx="208483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52852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結束：死亡或通關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一局長度與終點是建議值，尚未拍板；「無限」可在通關後循環並提高門檻來延伸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主角：三項數值，沒有生命值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各 0–5、起始 2；數值範圍為建議值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2514600"/>
          </a:xfrm>
          <a:prstGeom prst="roundRect">
            <a:avLst>
              <a:gd name="adj" fmla="val 5454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3F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逃脫、掠過類選項的門檻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只當選項門檻，不改變事件間隔；畫面上表現為背景捲動快慢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83080"/>
            <a:ext cx="3429000" cy="2514600"/>
          </a:xfrm>
          <a:prstGeom prst="roundRect">
            <a:avLst>
              <a:gd name="adj" fmla="val 5454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4296" y="1965960"/>
            <a:ext cx="640080" cy="640080"/>
          </a:xfrm>
          <a:prstGeom prst="ellipse">
            <a:avLst/>
          </a:prstGeom>
          <a:solidFill>
            <a:srgbClr val="5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7256" y="19659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溼度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7889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環境適配：乾地怕高、溼地怕低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38328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不是越高越好；過溼在乾環境會成為弱點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1783080"/>
            <a:ext cx="3429000" cy="2514600"/>
          </a:xfrm>
          <a:prstGeom prst="roundRect">
            <a:avLst>
              <a:gd name="adj" fmla="val 5454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94192" y="1965960"/>
            <a:ext cx="640080" cy="640080"/>
          </a:xfrm>
          <a:prstGeom prst="ellipse">
            <a:avLst/>
          </a:prstGeom>
          <a:solidFill>
            <a:srgbClr val="6B6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19659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韌度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889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硬撐、抵抗類選項的門檻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38328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對抗環境衝擊與磨損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MVP 需要的主角內容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2011680" cy="1234440"/>
          </a:xfrm>
          <a:prstGeom prst="roundRect">
            <a:avLst>
              <a:gd name="adj" fmla="val 8888"/>
            </a:avLst>
          </a:prstGeom>
          <a:solidFill>
            <a:srgbClr val="F1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120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奔跑動畫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5046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1 組，2–3 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" y="587044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704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必做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7500" y="5029200"/>
            <a:ext cx="2011680" cy="1234440"/>
          </a:xfrm>
          <a:prstGeom prst="roundRect">
            <a:avLst>
              <a:gd name="adj" fmla="val 8888"/>
            </a:avLst>
          </a:prstGeom>
          <a:solidFill>
            <a:srgbClr val="F1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0380" y="5120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枯死圖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0380" y="55046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1 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0380" y="587044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40380" y="58704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必做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5029200"/>
            <a:ext cx="2011680" cy="1234440"/>
          </a:xfrm>
          <a:prstGeom prst="roundRect">
            <a:avLst>
              <a:gd name="adj" fmla="val 888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5120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數值顯示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55046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三個圖示加格數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587044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9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8704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待定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2340" y="5029200"/>
            <a:ext cx="2011680" cy="1234440"/>
          </a:xfrm>
          <a:prstGeom prst="roundRect">
            <a:avLst>
              <a:gd name="adj" fmla="val 888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5220" y="5120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溼度外觀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5220" y="55046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顏色 3 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5220" y="587044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9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5220" y="58704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5029200"/>
            <a:ext cx="2011680" cy="1234440"/>
          </a:xfrm>
          <a:prstGeom prst="roundRect">
            <a:avLst>
              <a:gd name="adj" fmla="val 888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5120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韌度外觀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5046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莖粗細 3 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0" y="587044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B9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58704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選項與結束規則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所有取捨都靠事件條件表達，不寫數值交互公式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F1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玩家看到的樣子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逃離乾裂風帶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熱風捲起碎土，地面一路裂到遠方。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4937760" cy="859536"/>
          </a:xfrm>
          <a:prstGeom prst="roundRect">
            <a:avLst>
              <a:gd name="adj" fmla="val 10638"/>
            </a:avLst>
          </a:prstGeom>
          <a:solidFill>
            <a:srgbClr val="E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3465576"/>
            <a:ext cx="420624" cy="420624"/>
          </a:xfrm>
          <a:prstGeom prst="ellipse">
            <a:avLst/>
          </a:prstGeom>
          <a:solidFill>
            <a:srgbClr val="B9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655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加速掠過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0332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7772E"/>
                </a:solidFill>
                <a:latin typeface="Microsoft JhengHei"/>
                <a:ea typeface="Microsoft JhengHei"/>
                <a:cs typeface="Microsoft JhengHei"/>
              </a:rPr>
              <a:t>你跑得還不夠快。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335584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8E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3558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不可選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24528"/>
            <a:ext cx="49377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443984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439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1596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貼地匍匐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81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伏在地上等風過去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02936"/>
            <a:ext cx="4937760" cy="859536"/>
          </a:xfrm>
          <a:prstGeom prst="roundRect">
            <a:avLst>
              <a:gd name="adj" fmla="val 10638"/>
            </a:avLst>
          </a:prstGeom>
          <a:solidFill>
            <a:srgbClr val="E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5422392"/>
            <a:ext cx="420624" cy="420624"/>
          </a:xfrm>
          <a:prstGeom prst="ellipse">
            <a:avLst/>
          </a:prstGeom>
          <a:solidFill>
            <a:srgbClr val="B9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2239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94375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汲水自保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66013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7772E"/>
                </a:solidFill>
                <a:latin typeface="Microsoft JhengHei"/>
                <a:ea typeface="Microsoft JhengHei"/>
                <a:cs typeface="Microsoft JhengHei"/>
              </a:rPr>
              <a:t>你體內沒有足夠的水。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53126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8E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531266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不可選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1856231"/>
            <a:ext cx="457200" cy="45720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85623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78308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三選一，文案不寫數字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16712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選項文字暗示需要哪項數值與後果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2752344"/>
            <a:ext cx="457200" cy="45720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7523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679191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鎖定的選項照樣顯示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063239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不可點，並附一句原因，避免黑箱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648456"/>
            <a:ext cx="457200" cy="45720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6484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57530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檢驗點：全部鎖定即死亡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959352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三個選項都有條件，沒有生命值可扣</a:t>
            </a:r>
          </a:p>
        </p:txBody>
      </p:sp>
      <p:sp>
        <p:nvSpPr>
          <p:cNvPr id="39" name="Oval 38"/>
          <p:cNvSpPr/>
          <p:nvPr/>
        </p:nvSpPr>
        <p:spPr>
          <a:xfrm>
            <a:off x="6537960" y="4544568"/>
            <a:ext cx="457200" cy="45720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5445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471416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帶代價的通過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85546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能過但扣數值，用來表現環境反相懲罰</a:t>
            </a:r>
          </a:p>
        </p:txBody>
      </p:sp>
      <p:sp>
        <p:nvSpPr>
          <p:cNvPr id="43" name="Oval 42"/>
          <p:cNvSpPr/>
          <p:nvPr/>
        </p:nvSpPr>
        <p:spPr>
          <a:xfrm>
            <a:off x="6537960" y="5440680"/>
            <a:ext cx="457200" cy="45720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440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36752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每次選擇後一句微敘事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751576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要帶出對未來的提示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三個檢驗點：團隊討論的範本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每 60 秒一個；三個選項都不符合就死亡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C7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檢驗點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585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乾裂風帶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80360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加速掠過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需速度高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77639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79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貼地匍匐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需韌度中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074920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66359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汲水自保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5321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需溼度高；能過，但在乾地有負面效果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78308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54296" y="1965960"/>
            <a:ext cx="640080" cy="640080"/>
          </a:xfrm>
          <a:prstGeom prst="ellipse">
            <a:avLst/>
          </a:prstGeom>
          <a:solidFill>
            <a:srgbClr val="3F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1965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檢驗點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22585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積水窪地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2880360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297180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繞行坡面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3375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需速度中；消耗少量韌度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08576" y="3977639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4069079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吸附養分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6" y="4434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需溼度高；獲得短期增益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08576" y="5074920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5166359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挺莖渡過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5321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需韌度高；之後有柔軟度劣勢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78308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4192" y="1965960"/>
            <a:ext cx="640080" cy="640080"/>
          </a:xfrm>
          <a:prstGeom prst="ellipse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1" y="1965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檢驗點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1" y="22585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夜間寒潮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48471" y="2880360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1" y="297180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根系緊縮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1" y="33375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需韌度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8471" y="3977639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4069079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微動蓄熱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1" y="4434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速度低也可選；有機率受寒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48471" y="5074920"/>
            <a:ext cx="2971800" cy="978408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1" y="5166359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尋找露滴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1351" y="55321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需溼度達門檻；次日潤澤加成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隨機事件：三種各司其職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最低 15 個可玩，建議 20 個才有重玩差異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760720" cy="1078992"/>
          </a:xfrm>
          <a:prstGeom prst="roundRect">
            <a:avLst>
              <a:gd name="adj" fmla="val 12711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92807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8DB255"/>
                </a:solidFill>
                <a:latin typeface="Microsoft JhengHei"/>
                <a:ea typeface="Microsoft JhengHei"/>
                <a:cs typeface="Microsoft JhengHei"/>
              </a:rPr>
              <a:t>10 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911095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加某項數值，同時扣另一項，製造偏科取捨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5760720" cy="1078992"/>
          </a:xfrm>
          <a:prstGeom prst="roundRect">
            <a:avLst>
              <a:gd name="adj" fmla="val 12711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預告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8DB255"/>
                </a:solidFill>
                <a:latin typeface="Microsoft JhengHei"/>
                <a:ea typeface="Microsoft JhengHei"/>
                <a:cs typeface="Microsoft JhengHei"/>
              </a:rPr>
              <a:t>4 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145536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暗示下一個檢驗點是乾、溼還是寒，讓玩家來得及調整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5760720" cy="1078992"/>
          </a:xfrm>
          <a:prstGeom prst="roundRect">
            <a:avLst>
              <a:gd name="adj" fmla="val 12711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8DB255"/>
                </a:solidFill>
                <a:latin typeface="Microsoft JhengHei"/>
                <a:ea typeface="Microsoft JhengHei"/>
                <a:cs typeface="Microsoft JhengHei"/>
              </a:rPr>
              <a:t>6 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379976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有門檻的高報酬選項，搭配安全但沒收穫的選項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86400"/>
            <a:ext cx="5760720" cy="777240"/>
          </a:xfrm>
          <a:prstGeom prst="roundRect">
            <a:avLst>
              <a:gd name="adj" fmla="val 17647"/>
            </a:avLst>
          </a:prstGeom>
          <a:solidFill>
            <a:srgbClr val="F1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5303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每個隨機事件至少留一個無條件選項（建議）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每個事件要寫的內容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2395728"/>
            <a:ext cx="146304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2860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標題加兩句以內的描述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944368"/>
            <a:ext cx="146304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8346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選項文字 ×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暗示需求，不寫數字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3493008"/>
            <a:ext cx="146304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3832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鎖定原因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條件不符時顯示的一句話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4041648"/>
            <a:ext cx="146304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393192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效果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數值加減，單項不超過 ±2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4590288"/>
            <a:ext cx="146304" cy="14630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448056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微敘事 ×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480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每個選項一句結果加提示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120640"/>
            <a:ext cx="4663440" cy="1143000"/>
          </a:xfrm>
          <a:prstGeom prst="roundRect">
            <a:avLst>
              <a:gd name="adj" fmla="val 1200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5193792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8155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段情境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193792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8155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個選項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193792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8155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句微敘事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MVP 內容清單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文案是最大的工作量，工程與美術從輕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主角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8036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三項數值：速度、溼度、韌度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20439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39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奔跑動畫 1 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6052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6052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枯死圖 1 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0060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數值顯示（待定）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440679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40679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外觀變化（可砍）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78308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54296" y="1965960"/>
            <a:ext cx="640080" cy="640080"/>
          </a:xfrm>
          <a:prstGeom prst="ellipse">
            <a:avLst/>
          </a:prstGeom>
          <a:solidFill>
            <a:srgbClr val="8A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19659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8576" y="288036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288036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檢驗點 3 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8576" y="3520439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520439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隨機事件 20 個（最低 15）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08576" y="416052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416052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每個事件 3 個選項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8576" y="480060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480060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鎖定原因與微敘事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08576" y="5440679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6" y="5440679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統一審稿與調數值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78308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4192" y="1965960"/>
            <a:ext cx="640080" cy="640080"/>
          </a:xfrm>
          <a:prstGeom prst="ellipse">
            <a:avLst/>
          </a:prstGeom>
          <a:solidFill>
            <a:srgbClr val="6B6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1965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1" y="19659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系統與畫面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8471" y="288036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1" y="288036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事件播放器（計時、判條件）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8471" y="3520439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1" y="3520439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同一局事件不重複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8471" y="416052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416052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捲動背景 1 張，可循環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8471" y="480060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1" y="4800600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滑鼠或鍵盤 1／2／3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48471" y="5440679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1" y="5440679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死亡與通關畫面各一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1F3D2B"/>
                </a:solidFill>
                <a:latin typeface="Microsoft JhengHei"/>
                <a:ea typeface="Microsoft JhengHei"/>
                <a:cs typeface="Microsoft JhengHei"/>
              </a:rPr>
              <a:t>實作順序：先讓一局跑得完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先用純文字介面驗證規則，再上美術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965960"/>
            <a:ext cx="420624" cy="420624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事件播放器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963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純文字介面：計時、三選一、條件鎖定、套用效果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7830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02736" y="1965960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9659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19659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跑通一局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4963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3 個檢驗點加 5 個隨機事件，確認死亡與通關都會發生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965960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659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9659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顯示與結束畫面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4963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數值顯示、死亡畫面、通關畫面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17830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62288" y="1965960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19659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19659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事件補到 15 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4963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試玩並調整門檻數字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832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3566160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5661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5661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奔跑與背景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0965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小草奔跑動畫、捲動背景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9856" y="33832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02736" y="3566160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2736" y="35661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51376" y="35661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事件補到 20 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2736" y="40965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補足重玩差異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3832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F3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82512" y="3566160"/>
            <a:ext cx="420624" cy="420624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56616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3566160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096512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F64"/>
                </a:solidFill>
                <a:latin typeface="Microsoft JhengHei"/>
                <a:ea typeface="Microsoft JhengHei"/>
                <a:cs typeface="Microsoft JhengHei"/>
              </a:rPr>
              <a:t>外觀變化、音效、標題畫面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9408" y="3383280"/>
            <a:ext cx="2542032" cy="1417320"/>
          </a:xfrm>
          <a:prstGeom prst="roundRect">
            <a:avLst>
              <a:gd name="adj" fmla="val 9677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2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驗收重點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4005072"/>
            <a:ext cx="21762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極端偏科會在檢驗點死亡，且死因說得出原因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120640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F1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230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時間不夠時的砍法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5669280"/>
            <a:ext cx="30175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66928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1. 外觀變化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669280"/>
            <a:ext cx="411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5669280"/>
            <a:ext cx="30175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566928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2. 隨機事件留在 15 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5669280"/>
            <a:ext cx="411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8A5A36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5669280"/>
            <a:ext cx="30175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566928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3. 音效與標題畫面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接下來需要團隊決定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前四項會直接影響事件怎麼寫，要先定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257800" cy="1097280"/>
          </a:xfrm>
          <a:prstGeom prst="roundRect">
            <a:avLst>
              <a:gd name="adj" fmla="val 12500"/>
            </a:avLst>
          </a:prstGeom>
          <a:solidFill>
            <a:srgbClr val="2C5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4884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計時要不要暫停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7860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事件出現時停下來讓人讀。建議：暫停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011680"/>
            <a:ext cx="5257800" cy="1097280"/>
          </a:xfrm>
          <a:prstGeom prst="roundRect">
            <a:avLst>
              <a:gd name="adj" fmla="val 12500"/>
            </a:avLst>
          </a:prstGeom>
          <a:solidFill>
            <a:srgbClr val="2C5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20840" y="2286000"/>
            <a:ext cx="548640" cy="548640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14884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溼度怎麼判定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57860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建議：乾地要求不高於某值，溼地要求不低於某值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91840"/>
            <a:ext cx="5257800" cy="1097280"/>
          </a:xfrm>
          <a:prstGeom prst="roundRect">
            <a:avLst>
              <a:gd name="adj" fmla="val 12500"/>
            </a:avLst>
          </a:prstGeom>
          <a:solidFill>
            <a:srgbClr val="2C5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566160"/>
            <a:ext cx="548640" cy="548640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42900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自然枯竭進不進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5876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建議：先不進，只在檢驗點死亡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291840"/>
            <a:ext cx="5257800" cy="1097280"/>
          </a:xfrm>
          <a:prstGeom prst="roundRect">
            <a:avLst>
              <a:gd name="adj" fmla="val 12500"/>
            </a:avLst>
          </a:prstGeom>
          <a:solidFill>
            <a:srgbClr val="2C5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3566160"/>
            <a:ext cx="548640" cy="548640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566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42900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數值要不要顯示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85876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建議：用圖示加格數顯示，文案仍不寫數字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5257800" cy="1097280"/>
          </a:xfrm>
          <a:prstGeom prst="roundRect">
            <a:avLst>
              <a:gd name="adj" fmla="val 12500"/>
            </a:avLst>
          </a:prstGeom>
          <a:solidFill>
            <a:srgbClr val="2C5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4846320"/>
            <a:ext cx="548640" cy="548640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70916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一局多長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13892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建議：3 分鐘，通過第 3 個檢驗點即通關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572000"/>
            <a:ext cx="5257800" cy="1097280"/>
          </a:xfrm>
          <a:prstGeom prst="roundRect">
            <a:avLst>
              <a:gd name="adj" fmla="val 12500"/>
            </a:avLst>
          </a:prstGeom>
          <a:solidFill>
            <a:srgbClr val="2C5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0840" y="4846320"/>
            <a:ext cx="548640" cy="548640"/>
          </a:xfrm>
          <a:prstGeom prst="ellipse">
            <a:avLst/>
          </a:prstGeom>
          <a:solidFill>
            <a:srgbClr val="8DB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2A2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470916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其他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513892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Jam 主題與時間、引擎、分工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DEBC8"/>
                </a:solidFill>
                <a:latin typeface="Microsoft JhengHei"/>
                <a:ea typeface="Microsoft JhengHei"/>
                <a:cs typeface="Microsoft JhengHei"/>
              </a:rPr>
              <a:t>不做的事：戰鬥、生命值、存檔與局外成長、數值交互公式、超過三項數值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